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16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4983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 Vorstellung: WAT4 Projektarbeit, Testen eines echten Open-Source Energiemanagementsystems. Zwei Personen, disjunkte Testbereiche.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evcc ist kein Demo-Projekt – es läuft bei tausenden Nutzern produktiv. Die Komplexität liegt in der Businesslogik: Tarifberechnung, Solar-Integration, Ladeplanung. Ein Bug hier hat direkte Auswirkungen auf Geld und Mobilität.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Jest statt Vitest bei Kaltenegger: bewusste Entscheidung, da Jest weit verbreitet und die Konfiguration komplett isoliert ist. Cypress CT: Goldener Mittelweg zwischen Unit und E2E. k6: für Lastprofile mit VUs besser geeignet als andere Lösungen.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Unit-Tests: reine Funktionen, kein Backend, kein Browser. Schnell und deterministisch. Kaltenegger: Fokus auf Tarif-Mathematik und Forecast-Logik. Moser: Fokus auf Warnungslogik der Ladeplanung.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Zehn Dateien, alle reine Funktionen. Die Begründung für jeden Test: was wäre der fachliche Schaden, wenn diese Funktion falsch rechnet? Antwort immer konkret in Geld, Sichtbarkeit oder Erreichbarkeit.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Fälle in einer Datei – fokussiert auf die Warnungslogik. Wichtig: die Tests prüfen nicht, ob das Laden selbst klappt, sondern ob das System dem Nutzer korrekt kommuniziert, WANN sein Plan nicht aufgehen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 ist der goldene Mittelweg: kein Backend notwendig, aber echter Browser. Schneller als E2E, realer als ein reiner Unit-Test mit gemocktem DOM. Beide teilen den i18n-Mount-Helper.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Drei Komponenten aus Tarif- und Sessions-Bereich. Jeder Test prüft genau die sichtbare Auswirkung auf den Nutzer: fehlendes Preissignal, fehlerhafte Navigation, unvollständige Ladehistorie.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Mosers Integrationstests fokussieren die Fahrzeug-Orchestrierung: Battery-Boost, Abfahrtsplan und Mindest-SoC sind die drei Säulen des intelligenten Lademanagements.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E2E-Tests sind die teuersten (echter Server, echter Browser), daher wenige aber fachlich zentrale Flows. Unit und CT haben diese Flows nicht abgedeckt – das ist das Alleinstellungsmerkmal der E2E-Schicht.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charge-plan-flow ist der fachlich wertvollste Test: er prüft den kompletten Weg von Klick bis Planungs-UI. loadpoint-flow bestätigt die WebSocket-Verbindung. Beide Flows werden von keinem anderen Layer vollständig abgedeckt.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Mosers E2E-Tests sind bewusst je ein Test pro Kernpfad. Qualität über Quantität: charging-lifecycle = tägliche Journey, smart-cost-flow = wirtschaftlicher Hauptwert von evcc.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Beide Lasttests decken disjunkte Endpoints ab: SQLite-Read (Kalt) vs. Echtzeit-WebSocket (Moser). k6 wurde gewählt weil es nativ für Lastprofile gebaut ist – wenig Overhead pro VU, native Threshold-Unterstützung.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Ergebnis: p95 = 107 ms bei 20 parallelen Nutzern. Sehr gut. SQLite-Reads auf lokalem System sind schnell, aber der Test gibt Sicherheit für Deployments auf schwächerer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WebSocket-Last ist schwieriger zu testen als HTTP, weil persistente Verbindungen ressourcenintensiver sind. k6 unterstützt WebSocket nativ – ein weiterer Grund für die Tool-Wahl.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342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A361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502920" y="1188720"/>
            <a:ext cx="83210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400" b="1" dirty="0" err="1">
                <a:solidFill>
                  <a:srgbClr val="FFFFFF"/>
                </a:solidFill>
              </a:rPr>
              <a:t>evcc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361188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FA361"/>
                </a:solidFill>
              </a:rPr>
              <a:t>WAT4 – Qualitätssicherung und Testen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4251960"/>
            <a:ext cx="2926080" cy="36576"/>
          </a:xfrm>
          <a:prstGeom prst="rect">
            <a:avLst/>
          </a:prstGeom>
          <a:solidFill>
            <a:srgbClr val="2C7A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7" name="Text 5"/>
          <p:cNvSpPr/>
          <p:nvPr/>
        </p:nvSpPr>
        <p:spPr>
          <a:xfrm>
            <a:off x="502920" y="43891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Sebastian Kaltenegger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47548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Sebastian Moser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6126480"/>
            <a:ext cx="8321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FA361"/>
                </a:solidFill>
              </a:rPr>
              <a:t>27. Juni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342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Das getestete Projekt – evcc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502920" y="1261872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42B"/>
                </a:solidFill>
              </a:rPr>
              <a:t>Was ist evcc?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719072"/>
            <a:ext cx="35661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Open-Source Lademanager für Elektroautos
</a:t>
            </a:r>
            <a:r>
              <a:rPr lang="en-US" sz="600" dirty="0">
                <a:solidFill>
                  <a:srgbClr val="14342B"/>
                </a:solidFill>
              </a:rPr>
              <a:t>
</a:t>
            </a:r>
            <a:r>
              <a:rPr lang="en-US" sz="1200" b="1" dirty="0">
                <a:solidFill>
                  <a:srgbClr val="14342B"/>
                </a:solidFill>
              </a:rPr>
              <a:t>Frontend: </a:t>
            </a:r>
            <a:r>
              <a:rPr lang="en-US" sz="1200" dirty="0">
                <a:solidFill>
                  <a:srgbClr val="14342B"/>
                </a:solidFill>
              </a:rPr>
              <a:t>Vue 3 + TypeScript
</a:t>
            </a:r>
            <a:r>
              <a:rPr lang="en-US" sz="1200" b="1" dirty="0">
                <a:solidFill>
                  <a:srgbClr val="14342B"/>
                </a:solidFill>
              </a:rPr>
              <a:t>Backend: </a:t>
            </a:r>
            <a:r>
              <a:rPr lang="en-US" sz="1200" dirty="0">
                <a:solidFill>
                  <a:srgbClr val="14342B"/>
                </a:solidFill>
              </a:rPr>
              <a:t>Go – REST-API + WebSocket
</a:t>
            </a:r>
            <a:r>
              <a:rPr lang="en-US" sz="1200" b="1" dirty="0">
                <a:solidFill>
                  <a:srgbClr val="14342B"/>
                </a:solidFill>
              </a:rPr>
              <a:t>Datenhaltung: </a:t>
            </a:r>
            <a:r>
              <a:rPr lang="en-US" sz="1200" dirty="0">
                <a:solidFill>
                  <a:srgbClr val="14342B"/>
                </a:solidFill>
              </a:rPr>
              <a:t>SQLite (Ladesessions)
</a:t>
            </a:r>
            <a:r>
              <a:rPr lang="en-US" sz="1200" b="1" dirty="0">
                <a:solidFill>
                  <a:srgbClr val="14342B"/>
                </a:solidFill>
              </a:rPr>
              <a:t>Live-Daten: </a:t>
            </a:r>
            <a:r>
              <a:rPr lang="en-US" sz="1200" dirty="0">
                <a:solidFill>
                  <a:srgbClr val="14342B"/>
                </a:solidFill>
              </a:rPr>
              <a:t>WebSocket zu allen Clients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0" y="1143000"/>
            <a:ext cx="4251960" cy="2651760"/>
          </a:xfrm>
          <a:prstGeom prst="roundRect">
            <a:avLst>
              <a:gd name="adj" fmla="val 2759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4754880" y="1261872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42B"/>
                </a:solidFill>
              </a:rPr>
              <a:t>Kernfunktionen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54880" y="1719072"/>
            <a:ext cx="38404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Dynamischer Stromtarif
</a:t>
            </a:r>
            <a:r>
              <a:rPr lang="en-US" sz="1100" dirty="0">
                <a:solidFill>
                  <a:srgbClr val="587067"/>
                </a:solidFill>
              </a:rPr>
              <a:t>Laden wenn Strom günstig ist
</a:t>
            </a:r>
            <a:r>
              <a:rPr lang="en-US" sz="500" dirty="0">
                <a:solidFill>
                  <a:srgbClr val="14342B"/>
                </a:solidFill>
              </a:rPr>
              <a:t>
</a:t>
            </a:r>
            <a:r>
              <a:rPr lang="en-US" sz="1200" b="1" dirty="0">
                <a:solidFill>
                  <a:srgbClr val="14342B"/>
                </a:solidFill>
              </a:rPr>
              <a:t>Solar-Forecast
</a:t>
            </a:r>
            <a:r>
              <a:rPr lang="en-US" sz="1100" dirty="0">
                <a:solidFill>
                  <a:srgbClr val="587067"/>
                </a:solidFill>
              </a:rPr>
              <a:t>PV-Überschuss optimal nutzen
</a:t>
            </a:r>
            <a:r>
              <a:rPr lang="en-US" sz="500" dirty="0">
                <a:solidFill>
                  <a:srgbClr val="14342B"/>
                </a:solidFill>
              </a:rPr>
              <a:t>
</a:t>
            </a:r>
            <a:r>
              <a:rPr lang="en-US" sz="1200" b="1" dirty="0">
                <a:solidFill>
                  <a:srgbClr val="14342B"/>
                </a:solidFill>
              </a:rPr>
              <a:t>Ladeplanung
</a:t>
            </a:r>
            <a:r>
              <a:rPr lang="en-US" sz="1100" dirty="0">
                <a:solidFill>
                  <a:srgbClr val="587067"/>
                </a:solidFill>
              </a:rPr>
              <a:t>Bis wann auf welchen Ladestand?
</a:t>
            </a:r>
            <a:r>
              <a:rPr lang="en-US" sz="500" dirty="0">
                <a:solidFill>
                  <a:srgbClr val="14342B"/>
                </a:solidFill>
              </a:rPr>
              <a:t>
</a:t>
            </a:r>
            <a:r>
              <a:rPr lang="en-US" sz="1200" b="1" dirty="0">
                <a:solidFill>
                  <a:srgbClr val="14342B"/>
                </a:solidFill>
              </a:rPr>
              <a:t>Multi-Ladepunkt
</a:t>
            </a:r>
            <a:r>
              <a:rPr lang="en-US" sz="1100" dirty="0">
                <a:solidFill>
                  <a:srgbClr val="587067"/>
                </a:solidFill>
              </a:rPr>
              <a:t>Mehrere Wallboxen parallel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3931920"/>
            <a:ext cx="8595360" cy="1828800"/>
          </a:xfrm>
          <a:prstGeom prst="roundRect">
            <a:avLst>
              <a:gd name="adj" fmla="val 4000"/>
            </a:avLst>
          </a:prstGeom>
          <a:solidFill>
            <a:srgbClr val="E8F5EC"/>
          </a:solidFill>
          <a:ln w="9525">
            <a:solidFill>
              <a:srgbClr val="6FA36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502920" y="404164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7A4B"/>
                </a:solidFill>
              </a:rPr>
              <a:t>Warum Testen hier besonders wichtig ist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448056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4342B"/>
                </a:solidFill>
              </a:rPr>
              <a:t>Ein Fehler in der Tarifberechnung kostet Nutzer direkt Geld. Eine kaputte Ladeplanung bedeutet leere Batterie beim nächsten Morgen. evcc verbindet Hardware (Wallbox, Photovoltaik) mit komplexer Businesslogik – Fehler sind schwer sichtbar und haben echte Konsequenzen.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342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Eingesetzte Test-Frameworks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092440" y="144475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1691640"/>
            <a:ext cx="8595360" cy="960120"/>
          </a:xfrm>
          <a:prstGeom prst="roundRect">
            <a:avLst>
              <a:gd name="adj" fmla="val 7619"/>
            </a:avLst>
          </a:prstGeom>
          <a:solidFill>
            <a:srgbClr val="FEF3DC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411480" y="17830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342B"/>
                </a:solidFill>
              </a:rPr>
              <a:t>Vitest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11480" y="21945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Unit-Tests (M)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94560" y="1947672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342B"/>
                </a:solidFill>
              </a:rPr>
              <a:t>Projekt-Standard, nahtlose Vite-Integration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74320" y="2743200"/>
            <a:ext cx="8595360" cy="960120"/>
          </a:xfrm>
          <a:prstGeom prst="roundRect">
            <a:avLst>
              <a:gd name="adj" fmla="val 7619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411480" y="28346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342B"/>
                </a:solidFill>
              </a:rPr>
              <a:t>Cypress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11480" y="32461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Component Testing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94560" y="2999232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342B"/>
                </a:solidFill>
              </a:rPr>
              <a:t>Vue-Komponenten im echten Chromium, ohne Backend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274320" y="3794760"/>
            <a:ext cx="8595360" cy="960120"/>
          </a:xfrm>
          <a:prstGeom prst="roundRect">
            <a:avLst>
              <a:gd name="adj" fmla="val 7619"/>
            </a:avLst>
          </a:prstGeom>
          <a:solidFill>
            <a:srgbClr val="FEF3DC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6" name="Text 24"/>
          <p:cNvSpPr/>
          <p:nvPr/>
        </p:nvSpPr>
        <p:spPr>
          <a:xfrm>
            <a:off x="411480" y="3886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342B"/>
                </a:solidFill>
              </a:rPr>
              <a:t>Playwright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11480" y="42976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End-to-End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194560" y="4050792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342B"/>
                </a:solidFill>
              </a:rPr>
              <a:t>Vollständige Browser-Tests gegen ein echtes, gebootetes evcc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274320" y="4846320"/>
            <a:ext cx="8595360" cy="960120"/>
          </a:xfrm>
          <a:prstGeom prst="roundRect">
            <a:avLst>
              <a:gd name="adj" fmla="val 7619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4" name="Text 32"/>
          <p:cNvSpPr/>
          <p:nvPr/>
        </p:nvSpPr>
        <p:spPr>
          <a:xfrm>
            <a:off x="411480" y="49377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342B"/>
                </a:solidFill>
              </a:rPr>
              <a:t>k6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11480" y="5349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Last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194560" y="5102352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342B"/>
                </a:solidFill>
              </a:rPr>
              <a:t>VU-basiert, native Thresholds für p95 und Fehlerrate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8092440" y="495604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342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Unit-Tests – </a:t>
            </a:r>
            <a:r>
              <a:rPr lang="en-US" sz="2400" b="1" dirty="0" err="1">
                <a:solidFill>
                  <a:srgbClr val="FFFFFF"/>
                </a:solidFill>
              </a:rPr>
              <a:t>Übersicht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4160520" cy="5212080"/>
          </a:xfrm>
          <a:prstGeom prst="roundRect">
            <a:avLst>
              <a:gd name="adj" fmla="val 1758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6" name="Shape 4"/>
          <p:cNvSpPr/>
          <p:nvPr/>
        </p:nvSpPr>
        <p:spPr>
          <a:xfrm>
            <a:off x="384048" y="1234440"/>
            <a:ext cx="347472" cy="347472"/>
          </a:xfrm>
          <a:prstGeom prst="ellipse">
            <a:avLst/>
          </a:prstGeom>
          <a:solidFill>
            <a:srgbClr val="6FA361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7" name="Text 5"/>
          <p:cNvSpPr/>
          <p:nvPr/>
        </p:nvSpPr>
        <p:spPr>
          <a:xfrm>
            <a:off x="384048" y="1234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261872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Kaltenegger – 34 Fälle / 10 Dateien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7190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Framework: Jest + ts-jest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148840"/>
            <a:ext cx="3749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– Tarif-Slot-Konvertierung (convertRates)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2587752"/>
            <a:ext cx="3749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– PV-Prognose Kalibrierfaktor (forecastSolar)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3026664"/>
            <a:ext cx="3749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– Günstigstes Ladefenster (forecastLowestSlot)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3465576"/>
            <a:ext cx="3749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– Statisch vs. dynamisch (forecastStaticTariff)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02920" y="3904488"/>
            <a:ext cx="3749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– 15-min Raster (tariffGenerateSlots)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02920" y="4343400"/>
            <a:ext cx="3749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– Kostenbereich + akt. Tarif (tariffCostRange / FindRate)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782312"/>
            <a:ext cx="3749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– Wallbox-URL (ocpp)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2920" y="5221224"/>
            <a:ext cx="3749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– Online-Erkennung 5-min-Grenze (remote)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5660136"/>
            <a:ext cx="3749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– Ladepunkt-Reihenfolge (uiLoadpoints-layout)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09160" y="1143000"/>
            <a:ext cx="4160520" cy="5212080"/>
          </a:xfrm>
          <a:prstGeom prst="roundRect">
            <a:avLst>
              <a:gd name="adj" fmla="val 1758"/>
            </a:avLst>
          </a:prstGeom>
          <a:solidFill>
            <a:srgbClr val="FEF3DC"/>
          </a:solidFill>
          <a:ln w="9525">
            <a:solidFill>
              <a:srgbClr val="D9B8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0" name="Shape 18"/>
          <p:cNvSpPr/>
          <p:nvPr/>
        </p:nvSpPr>
        <p:spPr>
          <a:xfrm>
            <a:off x="4818888" y="1234440"/>
            <a:ext cx="347472" cy="347472"/>
          </a:xfrm>
          <a:prstGeom prst="ellipse">
            <a:avLst/>
          </a:prstGeom>
          <a:solidFill>
            <a:srgbClr val="D9952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4818888" y="1234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57800" y="1261872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Moser – 10 Fälle / 1 Datei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937760" y="17190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Framework: Vitest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21488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342B"/>
                </a:solidFill>
              </a:rPr>
              <a:t>chargingPlanWarnings.test.ts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937760" y="2606040"/>
            <a:ext cx="37490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Prüft alle Kombinationen, bei denen evcc eine Warnung für einen nicht erreichbaren Ladeplan ausgeben soll: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– Zu kurze Ladezeit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– Zu wenig Energie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– Unrealistischer Ziel-SoC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– Kombinationen aus Zeit + Energie + SoC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C7A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Unit-Tests – Kaltenegger (Detail)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438912" y="1216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>convertRates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38912" y="160020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87067"/>
                </a:solidFill>
              </a:rPr>
              <a:t>Jede Tarif-Anzeige baut darauf auf – ein Fehler verfälscht alle Preise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2221992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438912" y="2295144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>forecastSolar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38912" y="2679192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87067"/>
                </a:solidFill>
              </a:rPr>
              <a:t>Falscher Kalibrierfaktor verschiebt die gesamte PV-Prognose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3300984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438912" y="3374136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>forecastLowestSlot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38912" y="3758184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87067"/>
                </a:solidFill>
              </a:rPr>
              <a:t>Off-by-one → falsches Ladefenster → Nutzer zahlt mehr Strom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4379976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438912" y="445312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>forecastStaticTariff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38912" y="4837176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87067"/>
                </a:solidFill>
              </a:rPr>
              <a:t>Falsch-positiv zeigt sinnlose Planung, falsch-negativ versteckt sie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5458968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438912" y="553212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>tariffGenerateSlots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38912" y="5916168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87067"/>
                </a:solidFill>
              </a:rPr>
              <a:t>15-min-Raster speist alle Tarif-Markierungen – falsch = alle Balken verschoben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09160" y="114300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BF5E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3" name="Text 21"/>
          <p:cNvSpPr/>
          <p:nvPr/>
        </p:nvSpPr>
        <p:spPr>
          <a:xfrm>
            <a:off x="4873752" y="1216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>tariffCostRange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873752" y="160020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87067"/>
                </a:solidFill>
              </a:rPr>
              <a:t>Bildet die Preis-Skala der Forecast-Anzeige – Nullwerte dürfen sie nicht verzerren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09160" y="2221992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BF5E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6" name="Text 24"/>
          <p:cNvSpPr/>
          <p:nvPr/>
        </p:nvSpPr>
        <p:spPr>
          <a:xfrm>
            <a:off x="4873752" y="2295144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>tariffFindRate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873752" y="2679192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87067"/>
                </a:solidFill>
              </a:rPr>
              <a:t>Liefert den aktuell geltenden Tarif – Grundlage jeder Kostenanzeige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3300984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BF5E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9" name="Text 27"/>
          <p:cNvSpPr/>
          <p:nvPr/>
        </p:nvSpPr>
        <p:spPr>
          <a:xfrm>
            <a:off x="4873752" y="3374136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>ocpp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873752" y="3758184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87067"/>
                </a:solidFill>
              </a:rPr>
              <a:t>Falsche URL macht die Wallbox unerreichbar / unkonfigurierbar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4379976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BF5E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2" name="Text 30"/>
          <p:cNvSpPr/>
          <p:nvPr/>
        </p:nvSpPr>
        <p:spPr>
          <a:xfrm>
            <a:off x="4873752" y="445312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>remote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873752" y="4837176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87067"/>
                </a:solidFill>
              </a:rPr>
              <a:t>5-min-Grenze steuert den Online-Status des Remote-Clients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5458968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BF5E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5" name="Text 33"/>
          <p:cNvSpPr/>
          <p:nvPr/>
        </p:nvSpPr>
        <p:spPr>
          <a:xfrm>
            <a:off x="4873752" y="553212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>uiLoadpoints-layout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873752" y="5916168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87067"/>
                </a:solidFill>
              </a:rPr>
              <a:t>Falsche Reihenfolge oder Ladepunkte unsichtbar trotz Konfiguration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A8702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Unit-Tests – Moser (Detail)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732520" y="32918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8595360" cy="1691640"/>
          </a:xfrm>
          <a:prstGeom prst="roundRect">
            <a:avLst>
              <a:gd name="adj" fmla="val 4324"/>
            </a:avLst>
          </a:prstGeom>
          <a:solidFill>
            <a:srgbClr val="FEF3DC"/>
          </a:solidFill>
          <a:ln w="9525">
            <a:solidFill>
              <a:srgbClr val="D9B8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502920" y="1261872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342B"/>
                </a:solidFill>
              </a:rPr>
              <a:t>chargingPlanWarnings.test.ts  –  10 Testfälle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4342B"/>
                </a:solidFill>
              </a:rPr>
              <a:t>Wann muss evcc den Nutzer warnen, dass der gewünschte Ladeplan nicht erreichbar ist?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2971800"/>
            <a:ext cx="2743200" cy="2743200"/>
          </a:xfrm>
          <a:prstGeom prst="roundRect">
            <a:avLst>
              <a:gd name="adj" fmla="val 2667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411480" y="309067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342B"/>
                </a:solidFill>
              </a:rPr>
              <a:t>Zu kurze Ladezeit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3657600"/>
            <a:ext cx="24688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Das Fahrzeug braucht länger zum Laden als bis zur Abfahrtszeit bleibt. Ohne Warnung glaubt der Nutzer, der Plan klappt – das Fahrzeug ist beim Losfahren nicht voll geladen.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00400" y="2971800"/>
            <a:ext cx="2743200" cy="2743200"/>
          </a:xfrm>
          <a:prstGeom prst="roundRect">
            <a:avLst>
              <a:gd name="adj" fmla="val 2667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3337560" y="309067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342B"/>
                </a:solidFill>
              </a:rPr>
              <a:t>Unrealistischer Energiebedarf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37560" y="3657600"/>
            <a:ext cx="24688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Die gewünschte Energiemenge übersteigt, was bis zur Abfahrt geladen werden kann (Ladeleistung × Zeit). Stille Fehlplanung ohne Test.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26480" y="2971800"/>
            <a:ext cx="2743200" cy="2743200"/>
          </a:xfrm>
          <a:prstGeom prst="roundRect">
            <a:avLst>
              <a:gd name="adj" fmla="val 2667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6263640" y="309067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342B"/>
                </a:solidFill>
              </a:rPr>
              <a:t>Kombination Zeit + SoC + Energie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63640" y="3657600"/>
            <a:ext cx="24688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Mehrere Einschränkungen gleichzeitig. Tests decken Grenzfälle ab: knapp erreichbar (keine Warnung) vs. knapp nicht erreichbar (Warnung).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74320" y="5852160"/>
            <a:ext cx="8595360" cy="685800"/>
          </a:xfrm>
          <a:prstGeom prst="roundRect">
            <a:avLst>
              <a:gd name="adj" fmla="val 10667"/>
            </a:avLst>
          </a:prstGeom>
          <a:solidFill>
            <a:srgbClr val="D0E8DA"/>
          </a:solidFill>
          <a:ln w="9525">
            <a:solidFill>
              <a:srgbClr val="6FA36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502920" y="5971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Fachlicher Nutzen: Ladeplanungen sind das Kernfeature von Smart Charging. Stille Fehlplanungen frustrieren Nutzer und entleeren das Fahrzeug unbemerkt.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342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Integrationstests (Cypress CT) – </a:t>
            </a:r>
            <a:r>
              <a:rPr lang="en-US" sz="2400" b="1" dirty="0" err="1">
                <a:solidFill>
                  <a:srgbClr val="FFFFFF"/>
                </a:solidFill>
              </a:rPr>
              <a:t>Übersicht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691640"/>
            <a:ext cx="4160520" cy="4206240"/>
          </a:xfrm>
          <a:prstGeom prst="roundRect">
            <a:avLst>
              <a:gd name="adj" fmla="val 1758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822960" y="182880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342B"/>
                </a:solidFill>
              </a:rPr>
              <a:t>Kaltenegger – 8 Fälle / 3 Komponenten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2359152"/>
            <a:ext cx="384048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548640" y="243230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TariffChart.vue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26080" y="243230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C7A4B"/>
                </a:solidFill>
              </a:rPr>
              <a:t>3 Fälle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2816352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Preisbalken, Ladefenster aktiv, teure Fenster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3502152"/>
            <a:ext cx="384048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548640" y="357530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DateNavigator.vue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926080" y="357530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C7A4B"/>
                </a:solidFill>
              </a:rPr>
              <a:t>3 Fälle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3959352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Grenzen (älteste / heute), Tageswahl lädt nach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11480" y="4645152"/>
            <a:ext cx="384048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9" name="Text 17"/>
          <p:cNvSpPr/>
          <p:nvPr/>
        </p:nvSpPr>
        <p:spPr>
          <a:xfrm>
            <a:off x="548640" y="471830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SessionTable.vue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926080" y="471830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C7A4B"/>
                </a:solidFill>
              </a:rPr>
              <a:t>2 Fälle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5102352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Leer-Hinweis vs. eine Zeile je Ladevorgang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09160" y="1691640"/>
            <a:ext cx="4160520" cy="4206240"/>
          </a:xfrm>
          <a:prstGeom prst="roundRect">
            <a:avLst>
              <a:gd name="adj" fmla="val 1758"/>
            </a:avLst>
          </a:prstGeom>
          <a:solidFill>
            <a:srgbClr val="FEF3DC"/>
          </a:solidFill>
          <a:ln w="9525">
            <a:solidFill>
              <a:srgbClr val="D9B8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5257800" y="182880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342B"/>
                </a:solidFill>
              </a:rPr>
              <a:t>Moser – 13 Fälle / 3 Komponenten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846320" y="2359152"/>
            <a:ext cx="384048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7" name="Text 25"/>
          <p:cNvSpPr/>
          <p:nvPr/>
        </p:nvSpPr>
        <p:spPr>
          <a:xfrm>
            <a:off x="4983480" y="243230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BatteryBoostIntegration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498080" y="2432304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9952B"/>
                </a:solidFill>
              </a:rPr>
              <a:t>4 Fälle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83480" y="2816352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Speicher-Entladung startet Fahrzeugladung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46320" y="3502152"/>
            <a:ext cx="384048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1" name="Text 29"/>
          <p:cNvSpPr/>
          <p:nvPr/>
        </p:nvSpPr>
        <p:spPr>
          <a:xfrm>
            <a:off x="4983480" y="357530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DeparturePlan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98080" y="3575304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9952B"/>
                </a:solidFill>
              </a:rPr>
              <a:t>5 Fälle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83480" y="3959352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Abfahrtszeit + Ziel-SoC → Rückwärtsplanung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846320" y="4645152"/>
            <a:ext cx="384048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5" name="Text 33"/>
          <p:cNvSpPr/>
          <p:nvPr/>
        </p:nvSpPr>
        <p:spPr>
          <a:xfrm>
            <a:off x="4983480" y="471830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MinSocCharging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498080" y="4718304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9952B"/>
                </a:solidFill>
              </a:rPr>
              <a:t>4 Fälle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83480" y="5102352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7067"/>
                </a:solidFill>
              </a:rPr>
              <a:t>Mindest-SoC beim Anstecken sichert Notreserve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C7A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Integrationstests – Kaltenegger (Detail)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8595360" cy="1737360"/>
          </a:xfrm>
          <a:prstGeom prst="roundRect">
            <a:avLst>
              <a:gd name="adj" fmla="val 4211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342B"/>
                </a:solidFill>
              </a:rPr>
              <a:t>TariffChart.vue  –  3 Fälle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1645920"/>
            <a:ext cx="2697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612648" y="1709928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342B"/>
                </a:solidFill>
              </a:rPr>
              <a:t>Jedes Tarif-Fenster als Balken dargestellt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" y="2167128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87067"/>
                </a:solidFill>
              </a:rPr>
              <a:t>Nutzer sieht den Preisverlauf – fehlt ein Balken, ist das Preisbild unvollständig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10712" y="1645920"/>
            <a:ext cx="2697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3" name="Text 11"/>
          <p:cNvSpPr/>
          <p:nvPr/>
        </p:nvSpPr>
        <p:spPr>
          <a:xfrm>
            <a:off x="3520440" y="1709928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342B"/>
                </a:solidFill>
              </a:rPr>
              <a:t>Ladefenster wird als aktiv markiert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20440" y="2167128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87067"/>
                </a:solidFill>
              </a:rPr>
              <a:t>Nutzer erkennt wann das Fahrzeug gerade geladen wird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18504" y="1645920"/>
            <a:ext cx="2697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6428232" y="1709928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342B"/>
                </a:solidFill>
              </a:rPr>
              <a:t>Teure Fenster erhalten Warnung-Klasse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28232" y="2167128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87067"/>
                </a:solidFill>
              </a:rPr>
              <a:t>Nutzer sieht sofort: jetzt ist Laden teuer – visuelle Warnung muss korrekt sein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2971800"/>
            <a:ext cx="8595360" cy="1737360"/>
          </a:xfrm>
          <a:prstGeom prst="roundRect">
            <a:avLst>
              <a:gd name="adj" fmla="val 4211"/>
            </a:avLst>
          </a:prstGeom>
          <a:solidFill>
            <a:srgbClr val="EBF5E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9" name="Text 17"/>
          <p:cNvSpPr/>
          <p:nvPr/>
        </p:nvSpPr>
        <p:spPr>
          <a:xfrm>
            <a:off x="457200" y="3044952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342B"/>
                </a:solidFill>
              </a:rPr>
              <a:t>DateNavigator.vue  –  3 Fälle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2920" y="3502152"/>
            <a:ext cx="2697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612648" y="356616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342B"/>
                </a:solidFill>
              </a:rPr>
              <a:t>Zurück-Button deaktiviert an ältester Session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12648" y="402336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87067"/>
                </a:solidFill>
              </a:rPr>
              <a:t>Verhindert Navigation in Zeiträume ohne Daten – sonst leere Ansicht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10712" y="3502152"/>
            <a:ext cx="2697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4" name="Text 22"/>
          <p:cNvSpPr/>
          <p:nvPr/>
        </p:nvSpPr>
        <p:spPr>
          <a:xfrm>
            <a:off x="3520440" y="356616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342B"/>
                </a:solidFill>
              </a:rPr>
              <a:t>Weiter-Button deaktiviert am heutigen Tag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520440" y="402336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87067"/>
                </a:solidFill>
              </a:rPr>
              <a:t>Keine Zukunftsdaten vorhanden – Navigation würde leere Tabelle zeigen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18504" y="3502152"/>
            <a:ext cx="2697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7" name="Text 25"/>
          <p:cNvSpPr/>
          <p:nvPr/>
        </p:nvSpPr>
        <p:spPr>
          <a:xfrm>
            <a:off x="6428232" y="356616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342B"/>
                </a:solidFill>
              </a:rPr>
              <a:t>Tageswahl löst update-date Event aus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28232" y="402336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87067"/>
                </a:solidFill>
              </a:rPr>
              <a:t>Kernfunktion: ohne dieses Event werden keine neuen Sessions nachgeladen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4320" y="4828032"/>
            <a:ext cx="8595360" cy="1737360"/>
          </a:xfrm>
          <a:prstGeom prst="roundRect">
            <a:avLst>
              <a:gd name="adj" fmla="val 4211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0" name="Text 28"/>
          <p:cNvSpPr/>
          <p:nvPr/>
        </p:nvSpPr>
        <p:spPr>
          <a:xfrm>
            <a:off x="457200" y="4901184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342B"/>
                </a:solidFill>
              </a:rPr>
              <a:t>SessionTable.vue  –  2 Fälle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02920" y="5358384"/>
            <a:ext cx="2697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2" name="Text 30"/>
          <p:cNvSpPr/>
          <p:nvPr/>
        </p:nvSpPr>
        <p:spPr>
          <a:xfrm>
            <a:off x="612648" y="5422392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342B"/>
                </a:solidFill>
              </a:rPr>
              <a:t>Leer-Hinweis wenn keine Ladevorgänge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12648" y="5879592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87067"/>
                </a:solidFill>
              </a:rPr>
              <a:t>Nutzer sieht klare Aussage statt leerer Tabelle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10712" y="5358384"/>
            <a:ext cx="2697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5" name="Text 33"/>
          <p:cNvSpPr/>
          <p:nvPr/>
        </p:nvSpPr>
        <p:spPr>
          <a:xfrm>
            <a:off x="3520440" y="5422392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342B"/>
                </a:solidFill>
              </a:rPr>
              <a:t>Je Ladevorgang genau eine Zeile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520440" y="5879592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87067"/>
                </a:solidFill>
              </a:rPr>
              <a:t>Jede Session muss erscheinen – fehlende oder doppelte Zeilen wären Fehler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342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Integrationstests – Moser (Detail)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732520" y="32918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8595360" cy="1691640"/>
          </a:xfrm>
          <a:prstGeom prst="roundRect">
            <a:avLst>
              <a:gd name="adj" fmla="val 4324"/>
            </a:avLst>
          </a:prstGeom>
          <a:solidFill>
            <a:srgbClr val="FEF3DC"/>
          </a:solidFill>
          <a:ln w="9525">
            <a:solidFill>
              <a:srgbClr val="D9B8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457200" y="1179576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342B"/>
                </a:solidFill>
              </a:rPr>
              <a:t>BatteryBoostIntegration  –  4 Fälle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87067"/>
                </a:solidFill>
              </a:rPr>
              <a:t>Startet Battery-Boost und prüft ob die Komponente korrekt auf Speicher-Entladung reagiert.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98424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Boost aktivierbar wenn Hausspeicher verfügbar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21854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Ladung startet sofort aus dem Speicher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238658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Boost deaktivierbar – zurück in Normal-Modus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58775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Kein Boost wenn kein Speicher vorhanden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0" y="1179576"/>
            <a:ext cx="4206240" cy="1536192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4736592" y="12801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C7A4B"/>
                </a:solidFill>
              </a:rPr>
              <a:t>Fachlich warum?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736592" y="1664208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PV-Überschuss-Nutzung ist ein Kern-Feature: Energie aus dem Speicher kostet nichts extra. Fehler hier verhindert Eigenverbrauch.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74320" y="2944368"/>
            <a:ext cx="8595360" cy="1691640"/>
          </a:xfrm>
          <a:prstGeom prst="roundRect">
            <a:avLst>
              <a:gd name="adj" fmla="val 4324"/>
            </a:avLst>
          </a:prstGeom>
          <a:solidFill>
            <a:srgbClr val="FFF8EE"/>
          </a:solidFill>
          <a:ln w="9525">
            <a:solidFill>
              <a:srgbClr val="D9B8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457200" y="3008376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342B"/>
                </a:solidFill>
              </a:rPr>
              <a:t>DeparturePlan  –  5 Fälle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" y="34290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87067"/>
                </a:solidFill>
              </a:rPr>
              <a:t>Abfahrtsplanung: bis wann soll das Fahrzeug auf welchen Ladestand geladen sein?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81304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Abfahrtszeit setzbar und wird angezeigt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0142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Ziel-SoC setzbar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7200" y="421538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System berechnet Ladestart rückwärts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441655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Warnung bei nicht erreichbarem Plan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0" y="3008376"/>
            <a:ext cx="4206240" cy="1536192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4736592" y="31089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C7A4B"/>
                </a:solidFill>
              </a:rPr>
              <a:t>Fachlich warum?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736592" y="3493008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Abfahrtsplanung ist das wichtigste Smart-Charging-Feature. Fehler = falsche Abfahrtszeit oder leeres Fahrzeug.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274320" y="4773168"/>
            <a:ext cx="8595360" cy="1691640"/>
          </a:xfrm>
          <a:prstGeom prst="roundRect">
            <a:avLst>
              <a:gd name="adj" fmla="val 4324"/>
            </a:avLst>
          </a:prstGeom>
          <a:solidFill>
            <a:srgbClr val="FEF3DC"/>
          </a:solidFill>
          <a:ln w="9525">
            <a:solidFill>
              <a:srgbClr val="D9B8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8" name="Text 26"/>
          <p:cNvSpPr/>
          <p:nvPr/>
        </p:nvSpPr>
        <p:spPr>
          <a:xfrm>
            <a:off x="457200" y="4837176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342B"/>
                </a:solidFill>
              </a:rPr>
              <a:t>MinSocCharging  –  4 Fälle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7200" y="52578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87067"/>
                </a:solidFill>
              </a:rPr>
              <a:t>Mindest-SoC: sichert beim Anstecken eine Notreserve, bevor Smart-Modus greift.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564184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Mindest-SoC einstellbar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58430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Laden startet sofort beim Anstecken bis Min-SoC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604418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Kein Smart-Modus bis Min-SoC erreicht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624535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Normalbetrieb danach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0" y="4837176"/>
            <a:ext cx="4206240" cy="1536192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5" name="Text 33"/>
          <p:cNvSpPr/>
          <p:nvPr/>
        </p:nvSpPr>
        <p:spPr>
          <a:xfrm>
            <a:off x="4736592" y="49377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C7A4B"/>
                </a:solidFill>
              </a:rPr>
              <a:t>Fachlich warum?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736592" y="5321808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Ohne Notreserve riskiert der Nutzer leere Batterie bei ungeplanten Fahrten.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342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E2E (Playwright) – </a:t>
            </a:r>
            <a:r>
              <a:rPr lang="en-US" sz="2400" b="1" dirty="0" err="1">
                <a:solidFill>
                  <a:srgbClr val="FFFFFF"/>
                </a:solidFill>
              </a:rPr>
              <a:t>Übersicht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664208"/>
            <a:ext cx="4160520" cy="4434840"/>
          </a:xfrm>
          <a:prstGeom prst="roundRect">
            <a:avLst>
              <a:gd name="adj" fmla="val 1758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384048" y="175564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178308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342B"/>
                </a:solidFill>
              </a:rPr>
              <a:t>Kaltenegger – 4 Fälle / 2 Flows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2304288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548640" y="239572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charge-plan-flow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834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Ladeplan-Button öffnet Modal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318211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Modal zeigt Zeit- und Energiefeld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3602736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7A4B"/>
                </a:solidFill>
              </a:rPr>
              <a:t>Vollständiger Smart-Charging-Workflow im echten Browser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4133088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548640" y="422452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loadpoint-flow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Seitentitel sichtbar mit Live-Leistung (1.0 kW)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501091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Genau ein Ladepunkt 'Carport' angezeigt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5431536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7A4B"/>
                </a:solidFill>
              </a:rPr>
              <a:t>WebSocket-Daten kommen korrekt im Widget an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09160" y="1664208"/>
            <a:ext cx="4160520" cy="4434840"/>
          </a:xfrm>
          <a:prstGeom prst="roundRect">
            <a:avLst>
              <a:gd name="adj" fmla="val 1758"/>
            </a:avLst>
          </a:prstGeom>
          <a:solidFill>
            <a:srgbClr val="FEF3DC"/>
          </a:solidFill>
          <a:ln w="9525">
            <a:solidFill>
              <a:srgbClr val="D9B8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2" name="Text 20"/>
          <p:cNvSpPr/>
          <p:nvPr/>
        </p:nvSpPr>
        <p:spPr>
          <a:xfrm>
            <a:off x="4818888" y="175564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57800" y="178308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342B"/>
                </a:solidFill>
              </a:rPr>
              <a:t>Moser – 2 Fälle / 2 Flows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846320" y="2304288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4983480" y="239572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charging-lifecycle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83480" y="2834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Kompletter Lade-Zyklus (anstecken → laden → trennen)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983480" y="3602736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9952B"/>
                </a:solidFill>
              </a:rPr>
              <a:t>Kern-Journey aus Nutzerperspektive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4133088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9" name="Text 27"/>
          <p:cNvSpPr/>
          <p:nvPr/>
        </p:nvSpPr>
        <p:spPr>
          <a:xfrm>
            <a:off x="4983480" y="422452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smart-cost-flow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342B"/>
                </a:solidFill>
              </a:rPr>
              <a:t>– Smart-Cost-Limit setzen → evcc priorisiert günstigen Strom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983480" y="5431536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9952B"/>
                </a:solidFill>
              </a:rPr>
              <a:t>Wirtschaftlicher Kernpfad von evcc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C7A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E2E-Tests – Kaltenegger (Detail)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74320" y="1920240"/>
            <a:ext cx="8595360" cy="2240280"/>
          </a:xfrm>
          <a:prstGeom prst="roundRect">
            <a:avLst>
              <a:gd name="adj" fmla="val 3265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457200" y="202996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charge-plan-flow  –  2 Testfälle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11480" y="2487168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566928" y="2578608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Test 1: Ladeplan-Button öffnet Modal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90088"/>
            <a:ext cx="354787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Klick auf Ladeplan-Button → Charging-Plan-Modal erscheint.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Bestätigt: der Einstiegspunkt in die Ladeplanung funktioniert.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26280" y="2487168"/>
            <a:ext cx="4206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4681728" y="257860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Test 2: Zeit- und Energiefeld vorhanden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81728" y="2990088"/>
            <a:ext cx="3931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Im geöffneten Modal sind static-plan-time und static-plan-energy sichtbar.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Bestätigt: der Nutzer kann tatsächlich planen (Zeit und Energiemenge).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4279392"/>
            <a:ext cx="8595360" cy="2240280"/>
          </a:xfrm>
          <a:prstGeom prst="roundRect">
            <a:avLst>
              <a:gd name="adj" fmla="val 3265"/>
            </a:avLst>
          </a:prstGeom>
          <a:solidFill>
            <a:srgbClr val="EBF5E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457200" y="4389120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loadpoint-flow  –  2 Testfälle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11480" y="4846320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566928" y="4937760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Test 1: Seitentitel mit Live-Leistung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6928" y="5349240"/>
            <a:ext cx="354787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Seite zeigt Titel der Anlage und eine Live-Leistung von 1.0 kW.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Bestätigt: WebSocket-Verbindung überträgt Echtzeit-Daten korrekt.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26280" y="4846320"/>
            <a:ext cx="4206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3" name="Text 21"/>
          <p:cNvSpPr/>
          <p:nvPr/>
        </p:nvSpPr>
        <p:spPr>
          <a:xfrm>
            <a:off x="4681728" y="49377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42B"/>
                </a:solidFill>
              </a:rPr>
              <a:t>Test 2: Genau ein Ladepunkt sichtbar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81728" y="5349240"/>
            <a:ext cx="3931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Exakt ein Ladepunkt 'Carport' in der Hauptansicht.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Bestätigt: Konfiguration aus Fixture kommt korrekt im UI an.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342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E2E-Tests – Moser (Detail)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732520" y="32918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1901952"/>
            <a:ext cx="8595360" cy="2286000"/>
          </a:xfrm>
          <a:prstGeom prst="roundRect">
            <a:avLst>
              <a:gd name="adj" fmla="val 3200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457200" y="2011680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charging-lifecycle  –  1 Testfall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11480" y="2487168"/>
            <a:ext cx="83210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566928" y="2578608"/>
            <a:ext cx="7955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>Kompletter Lade-Zyklus: Fahrzeug anstecken → Laden startet → Laden stoppen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66928" y="3017520"/>
            <a:ext cx="7955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Dieser Test bildet die Kern-Journey ab, die jeder evcc-Nutzer täglich durchläuft. Unit- und Integrationstests prüfen einzelne Teile – dieser Test prüft das Zusammenspiel: Wallbox erkennt Fahrzeug, Backend startet Laden, UI aktualisiert sich per WebSocket. Ein Fehler in der Kette zwischen Wallbox und UI wäre sonst nicht sichtbar.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74320" y="4315968"/>
            <a:ext cx="8595360" cy="2286000"/>
          </a:xfrm>
          <a:prstGeom prst="roundRect">
            <a:avLst>
              <a:gd name="adj" fmla="val 3200"/>
            </a:avLst>
          </a:prstGeom>
          <a:solidFill>
            <a:srgbClr val="EBF5E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457200" y="4425696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smart-cost-flow  –  1 Testfall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11480" y="4901184"/>
            <a:ext cx="83210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566928" y="4992624"/>
            <a:ext cx="7955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42B"/>
                </a:solidFill>
              </a:rPr>
              <a:t>Smart-Cost-Limit setzen → evcc priorisiert günstigen Strom für die Ladung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66928" y="5431536"/>
            <a:ext cx="7955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Das Smart-Cost-Limit ist der wirtschaftliche Kernpfad: Nutzer geben an, bis zu welchem Preis pro kWh geladen werden soll. evcc stoppt oder startet Laden je nach aktuellem Tarif. Dieser Flow kann nur als E2E sinnvoll getestet werden – er benötigt echten Tarif-Feed, echtes Backend und echte UI-Reaktion im Browser.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342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Lasttests (k6) – </a:t>
            </a:r>
            <a:r>
              <a:rPr lang="en-US" sz="2400" b="1" dirty="0" err="1">
                <a:solidFill>
                  <a:srgbClr val="FFFFFF"/>
                </a:solidFill>
              </a:rPr>
              <a:t>Übersicht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20040" y="1078992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342B"/>
                </a:solidFill>
              </a:rPr>
              <a:t>Funktional korrekte Endpoints können unter Last brechen. k6 simuliert viele parallele Nutzer und misst Antwortzeiten und Fehlerraten gegen objektive Schwellenwerte.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74320" y="1664208"/>
            <a:ext cx="8595360" cy="640080"/>
          </a:xfrm>
          <a:prstGeom prst="roundRect">
            <a:avLst>
              <a:gd name="adj" fmla="val 11429"/>
            </a:avLst>
          </a:prstGeom>
          <a:solidFill>
            <a:srgbClr val="E8F5EC"/>
          </a:solidFill>
          <a:ln w="9525">
            <a:solidFill>
              <a:srgbClr val="6FA36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Text 5"/>
          <p:cNvSpPr/>
          <p:nvPr/>
        </p:nvSpPr>
        <p:spPr>
          <a:xfrm>
            <a:off x="457200" y="171907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7A4B"/>
                </a:solidFill>
              </a:rPr>
              <a:t>Gemeinsame Akzeptanzkriterien (Thresholds): 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171907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p95-Antwortzeit &lt; 500 ms   |   Fehlerrate &lt; 1 %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02996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87067"/>
                </a:solidFill>
              </a:rPr>
              <a:t>(Perzentil statt Mittelwert, weil Tail-Latenz die tatsächliche Nutzererfahrung bestimmt)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2450592"/>
            <a:ext cx="4160520" cy="3840480"/>
          </a:xfrm>
          <a:prstGeom prst="roundRect">
            <a:avLst>
              <a:gd name="adj" fmla="val 1905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3" name="Text 11"/>
          <p:cNvSpPr/>
          <p:nvPr/>
        </p:nvSpPr>
        <p:spPr>
          <a:xfrm>
            <a:off x="822960" y="2569464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sessions-load.js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30632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342B"/>
                </a:solidFill>
              </a:rPr>
              <a:t>Ziel-Endpoint: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920240" y="3063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GET /api/sessions (SQLite-Read)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340156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342B"/>
                </a:solidFill>
              </a:rPr>
              <a:t>Profil: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920240" y="3401568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15s Rampe → 20 VU → 30s halten → 10s runter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382219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342B"/>
                </a:solidFill>
              </a:rPr>
              <a:t>Ergebnis: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920240" y="382219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FA361"/>
                </a:solidFill>
              </a:rPr>
              <a:t>p95 = 107 ms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36576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SQLite-gestützter Read zeigt ein anderes Lastverhalten als In-Memory-State. Vor diesen Tests gab es keinen einzigen Lasttest im Projekt.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709160" y="2450592"/>
            <a:ext cx="4160520" cy="3840480"/>
          </a:xfrm>
          <a:prstGeom prst="roundRect">
            <a:avLst>
              <a:gd name="adj" fmla="val 1905"/>
            </a:avLst>
          </a:prstGeom>
          <a:solidFill>
            <a:srgbClr val="FEF3DC"/>
          </a:solidFill>
          <a:ln w="9525">
            <a:solidFill>
              <a:srgbClr val="D9B8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4" name="Text 22"/>
          <p:cNvSpPr/>
          <p:nvPr/>
        </p:nvSpPr>
        <p:spPr>
          <a:xfrm>
            <a:off x="5257800" y="2569464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websocket-load.js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92040" y="30632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342B"/>
                </a:solidFill>
              </a:rPr>
              <a:t>Ziel-Endpoint: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55080" y="3063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GET /api/state + WebSocket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92040" y="340156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342B"/>
                </a:solidFill>
              </a:rPr>
              <a:t>Profil: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55080" y="3401568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Echtzeit-Kanal unter paralleler Last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92040" y="382219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342B"/>
                </a:solidFill>
              </a:rPr>
              <a:t>Warum: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55080" y="382219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342B"/>
                </a:solidFill>
              </a:rPr>
              <a:t>WebSocket = Kern aller Live-Daten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92040" y="4297680"/>
            <a:ext cx="37490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4342B"/>
                </a:solidFill>
              </a:rPr>
              <a:t>Der WebSocket-Kanal überträgt alle Live-Updates an alle Clients gleichzeitig. Unter Last muss er stabil und aktuell bleiben.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C7A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Lasttest – Kaltenegger (Detail)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457200" y="120700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342B"/>
                </a:solidFill>
              </a:rPr>
              <a:t>sessions-load.js  –  GET /api/sessions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66420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342B"/>
                </a:solidFill>
              </a:rPr>
              <a:t>Der Endpoint liefert alle gespeicherten Ladesessions aus SQLite. Im Gegensatz zum reinen In-Memory-State-Endpoint ist hier eine Datenbankabfrage beteiligt, was ein anderes Lastprofil erzeugt.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74320" y="2450592"/>
            <a:ext cx="4160520" cy="2194560"/>
          </a:xfrm>
          <a:prstGeom prst="roundRect">
            <a:avLst>
              <a:gd name="adj" fmla="val 3333"/>
            </a:avLst>
          </a:prstGeom>
          <a:solidFill>
            <a:srgbClr val="EBF5EF"/>
          </a:solidFill>
          <a:ln w="9525">
            <a:solidFill>
              <a:srgbClr val="6FA36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457200" y="256032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Lastprofil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0632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Phase 1 (0–15 s): Ramp-up auf 20 virtuelle Nutzer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5661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Phase 2 (15–45 s): Stabile Last: 20 VU parallel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0690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Phase 3 (45–55 s): Ramp-down auf 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09160" y="2450592"/>
            <a:ext cx="4160520" cy="2194560"/>
          </a:xfrm>
          <a:prstGeom prst="roundRect">
            <a:avLst>
              <a:gd name="adj" fmla="val 3333"/>
            </a:avLst>
          </a:prstGeom>
          <a:solidFill>
            <a:srgbClr val="FEF3DC"/>
          </a:solidFill>
          <a:ln w="9525">
            <a:solidFill>
              <a:srgbClr val="D9B8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4892040" y="256032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Schwellenwerte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92040" y="3035808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342B"/>
                </a:solidFill>
              </a:rPr>
              <a:t>p95 &lt; 500 ms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345643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FA361"/>
                </a:solidFill>
              </a:rPr>
              <a:t>→  gemessener Wert: 107 ms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92040" y="388620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342B"/>
                </a:solidFill>
              </a:rPr>
              <a:t>Fehlerrate &lt; 1 %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92040" y="427939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FA361"/>
                </a:solidFill>
              </a:rPr>
              <a:t>→  gemessener Wert: 0 %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74320" y="4773168"/>
            <a:ext cx="8595360" cy="1417320"/>
          </a:xfrm>
          <a:prstGeom prst="roundRect">
            <a:avLst>
              <a:gd name="adj" fmla="val 5161"/>
            </a:avLst>
          </a:prstGeom>
          <a:solidFill>
            <a:srgbClr val="D0E8DA"/>
          </a:solidFill>
          <a:ln w="9525">
            <a:solidFill>
              <a:srgbClr val="6FA36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2" name="Text 20"/>
          <p:cNvSpPr/>
          <p:nvPr/>
        </p:nvSpPr>
        <p:spPr>
          <a:xfrm>
            <a:off x="457200" y="4882896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7A4B"/>
                </a:solidFill>
              </a:rPr>
              <a:t>Warum /api/sessions und nicht ein anderer Endpoint?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5321808"/>
            <a:ext cx="80467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Mosers Lasttest deckt bereits /api/state + WebSocket ab. /api/sessions ergänzt das: dieser Endpoint liest aus SQLite, nicht aus In-Memory-State. DB-Reads skalieren anders als State-Reads – eine separate Messung ist sinnvoll. Kein vorheriger Lasttest im Projekt existierte.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7F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342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503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Lasttest – Moser (Detail)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FEF3DC"/>
          </a:solidFill>
          <a:ln w="9525">
            <a:solidFill>
              <a:srgbClr val="D9B8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457200" y="120700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342B"/>
                </a:solidFill>
              </a:rPr>
              <a:t>websocket-load.js  –  /api/state + WebSocket Echtzeit-Kanal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66420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342B"/>
                </a:solidFill>
              </a:rPr>
              <a:t>Der WebSocket-Kanal ist das Rückgrat aller Live-Daten in evcc. Jeder Browser-Client hält eine permanente WebSocket-Verbindung offen und empfängt alle Statusupdates in Echtzeit.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74320" y="2450592"/>
            <a:ext cx="8595360" cy="1508760"/>
          </a:xfrm>
          <a:prstGeom prst="roundRect">
            <a:avLst>
              <a:gd name="adj" fmla="val 4848"/>
            </a:avLst>
          </a:prstGeom>
          <a:solidFill>
            <a:srgbClr val="E3EDE7"/>
          </a:solidFill>
          <a:ln w="9525">
            <a:solidFill>
              <a:srgbClr val="C5D5CC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457200" y="2560320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342B"/>
                </a:solidFill>
              </a:rPr>
              <a:t>Warum ist der WebSocket-Kanal für den Lasttest besonders relevant?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7200" y="2999232"/>
            <a:ext cx="804672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Alle Live-Anzeigen (Ladeleistung, Ladestatus, SoC, Energiepreise) werden per WebSocket an alle verbundenen Clients gepusht. Bei vielen parallelen Verbindungen muss der Server alle gleichzeitig bedienen – das ist ein anderes Last-Muster als bei HTTP-Requests. Bricht der WebSocket unter Last zusammen, friert das gesamte UI ein.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4096512"/>
            <a:ext cx="4160520" cy="2194560"/>
          </a:xfrm>
          <a:prstGeom prst="roundRect">
            <a:avLst>
              <a:gd name="adj" fmla="val 3333"/>
            </a:avLst>
          </a:prstGeom>
          <a:solidFill>
            <a:srgbClr val="EBF5EF"/>
          </a:solidFill>
          <a:ln w="9525">
            <a:solidFill>
              <a:srgbClr val="6FA36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457200" y="420624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Testszenario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645152"/>
            <a:ext cx="3749040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k6 öffnet parallele HTTP + WebSocket-Verbindungen zu /api/state. Gemessen werden Verbindungsaufbauzeit und Stabilität der Nachrichten.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Threshold: p95 &lt; 500 ms, Fehlerrate &lt; 1 %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4096512"/>
            <a:ext cx="4160520" cy="2194560"/>
          </a:xfrm>
          <a:prstGeom prst="roundRect">
            <a:avLst>
              <a:gd name="adj" fmla="val 3333"/>
            </a:avLst>
          </a:prstGeom>
          <a:solidFill>
            <a:srgbClr val="FEF3DC"/>
          </a:solidFill>
          <a:ln w="9525">
            <a:solidFill>
              <a:srgbClr val="D9B86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4892040" y="420624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42B"/>
                </a:solidFill>
              </a:rPr>
              <a:t>Abgrenzung zu Kaltenegger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92040" y="4645152"/>
            <a:ext cx="3749040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Kaltenegger testet /api/sessions (SQLite-Read, historische Daten).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Moser testet /api/state + WebSocket (In-Memory-State, Live-Daten).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4342B"/>
                </a:solidFill>
              </a:rPr>
              <a:t>Beide Szenarien ergänzen sich und decken unterschiedliche Last-Charakteristiken ab.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2246</Words>
  <Application>Microsoft Office PowerPoint</Application>
  <PresentationFormat>Bildschirmpräsentation (4:3)</PresentationFormat>
  <Paragraphs>265</Paragraphs>
  <Slides>15</Slides>
  <Notes>15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17" baseType="lpstr">
      <vt:lpstr>Arial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Kaltenegger Sebastian - s2410307017</cp:lastModifiedBy>
  <cp:revision>3</cp:revision>
  <dcterms:created xsi:type="dcterms:W3CDTF">2026-06-26T17:45:16Z</dcterms:created>
  <dcterms:modified xsi:type="dcterms:W3CDTF">2026-06-26T18:00:19Z</dcterms:modified>
</cp:coreProperties>
</file>