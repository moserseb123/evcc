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8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Vorstellung: WAT4 Projektarbeit, Testen eines echten Open-Source Energiemanagementsystems. Zwei Personen, disjunkte Testbereiche.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evcc ist kein Demo-Projekt – es läuft bei tausenden Nutzern produktiv. Die Komplexität liegt in der Businesslogik: Tarifberechnung, Solar-Integration, Ladeplanung. Ein Bug hier hat direkte Auswirkungen auf Geld und Mobilität.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Jest statt Vitest bei Kaltenegger: bewusste Entscheidung, da Jest weit verbreitet und die Konfiguration komplett isoliert ist. Cypress CT: Goldener Mittelweg zwischen Unit und E2E. k6: für Lastprofile mit VUs besser geeignet als andere Lösungen.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Unit-Tests: reine Funktionen, kein Backend, kein Browser. Schnell und deterministisch. Kaltenegger: Fokus auf Tarif-Mathematik und Forecast-Logik. Moser: Fokus auf Warnungslogik der Ladeplanung.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Zehn Dateien, alle reine Funktionen. Die Begründung für jeden Test: was wäre der fachliche Schaden, wenn diese Funktion falsch rechnet? Antwort immer konkret in Geld, Sichtbarkeit oder Erreichbarkeit.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Fälle in einer Datei – fokussiert auf die Warnungslogik. Wichtig: die Tests prüfen nicht, ob das Laden selbst klappt, sondern ob das System dem Nutzer korrekt kommuniziert, WANN sein Plan nicht aufgehen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 ist der goldene Mittelweg: kein Backend notwendig, aber echter Browser. Schneller als E2E, realer als ein reiner Unit-Test mit gemocktem DOM. Beide teilen den i18n-Mount-Helper.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Komponenten aus Tarif- und Sessions-Bereich. Jeder Test prüft genau die sichtbare Auswirkung auf den Nutzer: fehlendes Preissignal, fehlerhafte Navigation, unvollständige Ladehistorie.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Mosers Integrationstests fokussieren die Fahrzeug-Orchestrierung: Battery-Boost, Abfahrtsplan und Mindest-SoC sind die drei Säulen des intelligenten Lademanagements.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E2E-Tests sind die teuersten (echter Server, echter Browser), daher wenige aber fachlich zentrale Flows. Unit und CT haben diese Flows nicht abgedeckt – das ist das Alleinstellungsmerkmal der E2E-Schicht.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charge-plan-flow ist der fachlich wertvollste Test: er prüft den kompletten Weg von Klick bis Planungs-UI. loadpoint-flow bestätigt die WebSocket-Verbindung. Beide Flows werden von keinem anderen Layer vollständig abgedeckt.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Mosers E2E-Tests sind bewusst je ein Test pro Kernpfad. Qualität über Quantität: charging-lifecycle = tägliche Journey, smart-cost-flow = wirtschaftlicher Hauptwert von evcc.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Lasttests decken disjunkte Endpoints ab: SQLite-Read (Kalt) vs. Echtzeit-WebSocket (Moser). k6 wurde gewählt weil es nativ für Lastprofile gebaut ist – wenig Overhead pro VU, native Threshold-Unterstützung.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Ergebnis: p95 = 107 ms bei 20 parallelen Nutzern. Sehr gut. SQLite-Reads auf lokalem System sind schnell, aber der Test gibt Sicherheit für Deployments auf schwächerer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WebSocket-Last ist schwieriger zu testen als HTTP, weil persistente Verbindungen ressourcenintensiver sind. k6 unterstützt WebSocket nativ – ein weiterer Grund für die Tool-Wahl.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A36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evcc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A361"/>
                </a:solidFill>
              </a:rPr>
              <a:t>WAT4 – Qualitätssicherung und Testen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4251960"/>
            <a:ext cx="2926080" cy="36576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Sebastian Kaltenegger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Sebastian Moser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1264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A361"/>
                </a:solidFill>
              </a:rPr>
              <a:t>27. 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 getestete Projekt – evcc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</a:rPr>
              <a:t>Was ist evcc?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Open-Source Lademanager für Elektroautos
</a:t>
            </a:r>
            <a:r>
              <a:rPr lang="en-US" sz="600" dirty="0">
                <a:solidFill>
                  <a:srgbClr val="14342B"/>
                </a:solidFill>
              </a:rPr>
              <a:t>
</a:t>
            </a:r>
            <a:r>
              <a:rPr lang="en-US" sz="1200" b="1" dirty="0">
                <a:solidFill>
                  <a:srgbClr val="14342B"/>
                </a:solidFill>
              </a:rPr>
              <a:t>Frontend: </a:t>
            </a:r>
            <a:r>
              <a:rPr lang="en-US" sz="1200" dirty="0">
                <a:solidFill>
                  <a:srgbClr val="14342B"/>
                </a:solidFill>
              </a:rPr>
              <a:t>Vue 3 + TypeScript
</a:t>
            </a:r>
            <a:r>
              <a:rPr lang="en-US" sz="1200" b="1" dirty="0">
                <a:solidFill>
                  <a:srgbClr val="14342B"/>
                </a:solidFill>
              </a:rPr>
              <a:t>Backend: </a:t>
            </a:r>
            <a:r>
              <a:rPr lang="en-US" sz="1200" dirty="0">
                <a:solidFill>
                  <a:srgbClr val="14342B"/>
                </a:solidFill>
              </a:rPr>
              <a:t>Go – REST-API + WebSocket
</a:t>
            </a:r>
            <a:r>
              <a:rPr lang="en-US" sz="1200" b="1" dirty="0">
                <a:solidFill>
                  <a:srgbClr val="14342B"/>
                </a:solidFill>
              </a:rPr>
              <a:t>Datenhaltung: </a:t>
            </a:r>
            <a:r>
              <a:rPr lang="en-US" sz="1200" dirty="0">
                <a:solidFill>
                  <a:srgbClr val="14342B"/>
                </a:solidFill>
              </a:rPr>
              <a:t>SQLite (Ladesessions)
</a:t>
            </a:r>
            <a:r>
              <a:rPr lang="en-US" sz="1200" b="1" dirty="0">
                <a:solidFill>
                  <a:srgbClr val="14342B"/>
                </a:solidFill>
              </a:rPr>
              <a:t>Live-Daten: </a:t>
            </a:r>
            <a:r>
              <a:rPr lang="en-US" sz="1200" dirty="0">
                <a:solidFill>
                  <a:srgbClr val="14342B"/>
                </a:solidFill>
              </a:rPr>
              <a:t>WebSocket zu allen Clients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51960" cy="2651760"/>
          </a:xfrm>
          <a:prstGeom prst="roundRect">
            <a:avLst>
              <a:gd name="adj" fmla="val 275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</a:rPr>
              <a:t>Kernfunktionen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71907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Dynamischer Stromtarif
</a:t>
            </a:r>
            <a:r>
              <a:rPr lang="en-US" sz="1100" dirty="0">
                <a:solidFill>
                  <a:srgbClr val="587067"/>
                </a:solidFill>
              </a:rPr>
              <a:t>Laden wenn Strom günstig ist
</a:t>
            </a:r>
            <a:r>
              <a:rPr lang="en-US" sz="500" dirty="0">
                <a:solidFill>
                  <a:srgbClr val="14342B"/>
                </a:solidFill>
              </a:rPr>
              <a:t>
</a:t>
            </a:r>
            <a:r>
              <a:rPr lang="en-US" sz="1200" b="1" dirty="0">
                <a:solidFill>
                  <a:srgbClr val="14342B"/>
                </a:solidFill>
              </a:rPr>
              <a:t>Solar-Forecast
</a:t>
            </a:r>
            <a:r>
              <a:rPr lang="en-US" sz="1100" dirty="0">
                <a:solidFill>
                  <a:srgbClr val="587067"/>
                </a:solidFill>
              </a:rPr>
              <a:t>PV-Überschuss optimal nutzen
</a:t>
            </a:r>
            <a:r>
              <a:rPr lang="en-US" sz="500" dirty="0">
                <a:solidFill>
                  <a:srgbClr val="14342B"/>
                </a:solidFill>
              </a:rPr>
              <a:t>
</a:t>
            </a:r>
            <a:r>
              <a:rPr lang="en-US" sz="1200" b="1" dirty="0">
                <a:solidFill>
                  <a:srgbClr val="14342B"/>
                </a:solidFill>
              </a:rPr>
              <a:t>Ladeplanung
</a:t>
            </a:r>
            <a:r>
              <a:rPr lang="en-US" sz="1100" dirty="0">
                <a:solidFill>
                  <a:srgbClr val="587067"/>
                </a:solidFill>
              </a:rPr>
              <a:t>Bis wann auf welchen Ladestand?
</a:t>
            </a:r>
            <a:r>
              <a:rPr lang="en-US" sz="500" dirty="0">
                <a:solidFill>
                  <a:srgbClr val="14342B"/>
                </a:solidFill>
              </a:rPr>
              <a:t>
</a:t>
            </a:r>
            <a:r>
              <a:rPr lang="en-US" sz="1200" b="1" dirty="0">
                <a:solidFill>
                  <a:srgbClr val="14342B"/>
                </a:solidFill>
              </a:rPr>
              <a:t>Multi-Ladepunkt
</a:t>
            </a:r>
            <a:r>
              <a:rPr lang="en-US" sz="1100" dirty="0">
                <a:solidFill>
                  <a:srgbClr val="587067"/>
                </a:solidFill>
              </a:rPr>
              <a:t>Mehrere Wallboxen parallel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8595360" cy="1828800"/>
          </a:xfrm>
          <a:prstGeom prst="roundRect">
            <a:avLst>
              <a:gd name="adj" fmla="val 4000"/>
            </a:avLst>
          </a:prstGeom>
          <a:solidFill>
            <a:srgbClr val="E8F5EC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4B"/>
                </a:solidFill>
              </a:rPr>
              <a:t>Warum Testen hier besonders wichtig 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Ein Fehler in der Tarifberechnung kostet Nutzer direkt Geld. Eine kaputte Ladeplanung bedeutet leere Batterie beim nächsten Morgen. evcc verbindet Hardware (Wallbox, Photovoltaik) mit komplexer Businesslogik – Fehler sind schwer sichtbar und haben echte Konsequenzen.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Eingesetzte Test-Frameworks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92440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EF3DC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Vitest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Unit-Tests (K+M)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9476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Projekt-Standard, nahtlose Vite-Integration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Cypress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Component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9992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Vue-Komponenten im echten Chromium, ohne Backend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EF3DC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Playwright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End-to-End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0507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Vollständige Browser-Tests gegen ein echtes, gebootetes evcc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74320" y="48463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41148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k6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Last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51023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VU-basiert, native Thresholds für p95 und Fehlerrate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092440" y="4956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Unit-Tests – </a:t>
            </a:r>
            <a:r>
              <a:rPr lang="en-US" sz="2400" b="1" dirty="0" err="1">
                <a:solidFill>
                  <a:srgbClr val="FFFFFF"/>
                </a:solidFill>
              </a:rPr>
              <a:t>Übersicht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347472" cy="347472"/>
          </a:xfrm>
          <a:prstGeom prst="ellipse">
            <a:avLst/>
          </a:prstGeom>
          <a:solidFill>
            <a:srgbClr val="6FA36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Kaltenegger – 15 Fälle / 4 Dateien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Framework: Vitest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– forecast.test.ts: günstigstes Ladefenster, Solarprognose, statisch/dynamisch (5 Fälle)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– tariffSlots.test.ts: Preisspanne, aktiver Tarif, 15-min-Raster (5 Fälle)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026664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– ocpp.test.ts: Wallbox-URL (externalUrl vs. Fallback + StationId) (3 Fälle)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– remote.test.ts: Online-Erkennung 5-min-Grenzwert (2 Fälle)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904488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/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/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782312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/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221224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/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5660136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/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818888" y="1234440"/>
            <a:ext cx="347472" cy="347472"/>
          </a:xfrm>
          <a:prstGeom prst="ellipse">
            <a:avLst/>
          </a:prstGeom>
          <a:solidFill>
            <a:srgbClr val="D995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818888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261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Moser – 10 Fälle / 1 Datei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Framework: Vitest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chargingPlanWarnings.test.ts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606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Prüft alle Kombinationen, bei denen evcc eine Warnung für einen nicht erreichbaren Ladeplan ausgeben soll: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– Zu kurze Ladezeit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– Zu wenig Energie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– Unrealistischer Ziel-SoC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– Kombinationen aus Zeit + Energie + SoC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Unit-Tests – Kaltenegger (Detail)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38912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forecast.test.ts – Solarprognose &amp; günstigstes Ladefenster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>5 Fälle. findLowestSumSlotIndex (Breite 2, Breite 3), isStaticTariff (true wenn gleich, false wenn abweichend), adjustedSolar (skaliert today/tomorrow/dayAfterTomorrow).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38912" y="2295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tariffSlots.test.ts – Tarifsystem &amp; 15-min-Rasterung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" y="26791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>5 Fälle. calculateCostRange (min/max, ignoriert undefined), findRateInRange (findet überlappenden Tarif), generateRateSlots (15 Minuten exakt, selectable spiegelt value).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300984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38912" y="3374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ocpp.test.ts – Wallbox-URL-Generierung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" y="37581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>3 Fälle. getOcppUrl: externalUrl hat Priorität vor Fallback (hostname + Port). getOcppUrlWithStationId: &lt;stationId&gt;-Platzhalter wird angehängt. Falsche URL = Wallbox unerreichbar.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379976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38912" y="4453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remote.test.ts – Remote-Client-Aktivitätserkennung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" y="4837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>2 Fälle. true bei 2 min (aktiv), false bei exakt 5 min (Grenzwert = abgelaufen).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5458968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38912" y="5532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" y="59161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1430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873752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73752" y="1600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221992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873752" y="2295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73752" y="26791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300984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4873752" y="3374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73752" y="37581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4379976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4873752" y="4453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73752" y="4837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5458968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r>
              <a:t/>
            </a:r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873752" y="5532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/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73752" y="59161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7067"/>
                </a:solidFill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8702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Unit-Tests – Moser (Detail)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chargingPlanWarnings.test.ts  –  10 Testfälle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342B"/>
                </a:solidFill>
              </a:rPr>
              <a:t>Wann muss evcc den Nutzer warnen, dass der gewünschte Ladeplan nicht erreichbar ist?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Zu kurze Ladezeit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Das Fahrzeug braucht länger zum Laden als bis zur Abfahrtszeit bleibt. Ohne Warnung glaubt der Nutzer, der Plan klappt – das Fahrzeug ist beim Losfahren nicht voll geladen.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97180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333756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Unrealistischer Energiebedarf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657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Die gewünschte Energiemenge übersteigt, was bis zur Abfahrt geladen werden kann (Ladeleistung × Zeit). Stille Fehlplanung ohne Test.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26364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Kombination Zeit + SoC + Energie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657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Mehrere Einschränkungen gleichzeitig. Tests decken Grenzfälle ab: knapp erreichbar (keine Warnung) vs. knapp nicht erreichbar (Warnung).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58521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D0E8DA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02920" y="5971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Fachlicher Nutzen: Ladeplanungen sind das Kernfeature von Smart Charging. Stille Fehlplanungen frustrieren Nutzer und entleeren das Fahrzeug unbemerkt.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Integrationstests (Cypress CT) – </a:t>
            </a:r>
            <a:r>
              <a:rPr lang="en-US" sz="2400" b="1" dirty="0" err="1">
                <a:solidFill>
                  <a:srgbClr val="FFFFFF"/>
                </a:solidFill>
              </a:rPr>
              <a:t>Übersicht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Kaltenegger – 12 Fälle / 3 Komponenten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48640" y="24323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TariffChart.vue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4323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7A4B"/>
                </a:solidFill>
              </a:rPr>
              <a:t>4 Fälle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Preisbalken, aktiv/warning markiert, keine Duplikate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502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548640" y="35753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DateNavigator.vue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753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7A4B"/>
                </a:solidFill>
              </a:rPr>
              <a:t>4 Fälle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Grenzen (alt/heute), Vor-Button aktiv, Vor-/Rück-Event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645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548640" y="47183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SessionTable.vue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7183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7A4B"/>
                </a:solidFill>
              </a:rPr>
              <a:t>4 Fälle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102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Leer-Hinweis, Zeile je Session, Fahrzeug/Ladepunkt, Reihenfolge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69164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5257800" y="1828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Moser – 13 Fälle / 3 Komponenten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359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983480" y="2432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BatteryBoostIntegration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432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952B"/>
                </a:solidFill>
              </a:rPr>
              <a:t>4 Fälle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816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Speicher-Entladung startet Fahrzeugladung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502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4983480" y="3575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DeparturePlan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3575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952B"/>
                </a:solidFill>
              </a:rPr>
              <a:t>5 Fälle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Abfahrtszeit + Ziel-SoC → Rückwärtsplanung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645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983480" y="4718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MinSocCharging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4718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952B"/>
                </a:solidFill>
              </a:rPr>
              <a:t>4 Fälle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5102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67"/>
                </a:solidFill>
              </a:rPr>
              <a:t>Mindest-SoC beim Anstecken sichert Notreserve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Integrationstests – Kaltenegger (Detail)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737360"/>
          </a:xfrm>
          <a:prstGeom prst="roundRect">
            <a:avLst>
              <a:gd name="adj" fmla="val 4211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TariffChart.vue  –  4 Fälle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12648" y="1709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Jedes Tarif-Fenster als Balken dargestellt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Nutzer sieht den Preisverlauf – fehlt ein Balken, ist das Preisbild unvollständig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0712" y="16459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3520440" y="1709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Aktives Ladefenster als .active / kein .active wenn kein Ladevorgang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0440" y="21671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Falsche Markierung täuscht über Ladestatus – Nutzer lädt teuer ohne es zu merken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18504" y="16459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6428232" y="1709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Teure Fenster .warning / kein .warning bei günstigen Preisen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21671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Beide Richtungen werden getestet: Warnung erscheint genau dann wenn nötig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1737360"/>
          </a:xfrm>
          <a:prstGeom prst="roundRect">
            <a:avLst>
              <a:gd name="adj" fmla="val 4211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57200" y="30449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DateNavigator.vue  –  4 Fälle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50215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612648" y="35661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Zurück-Button deaktiviert an ältester Session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Verhindert Navigation in Zeiträume ohne Daten – sonst leere Ansicht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350215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3520440" y="35661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Weiter-Button deaktiviert heute / aktiv wenn Spielraum vorhanden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Fehlende Prüfung des aktiven Zustands wäre Blind Spot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18504" y="350215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6428232" y="35661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Vorwärts- und Rückwärts-Klick emittieren update-date Event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28232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Beide Richtungen getestet – Kernfunktion: ohne Event keine neuen Sessions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828032"/>
            <a:ext cx="8595360" cy="1737360"/>
          </a:xfrm>
          <a:prstGeom prst="roundRect">
            <a:avLst>
              <a:gd name="adj" fmla="val 4211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457200" y="49011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SessionTable.vue  –  4 Fälle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5358384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612648" y="54223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Leer-Hinweis wenn keine Ladevorgänge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" y="58795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Nutzer sieht klare Aussage statt leerer Tabelle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0712" y="5358384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3520440" y="54223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</a:rPr>
              <a:t>Korrekte Zeilenanzahl, Reihenfolge wie Eingabe; Fahrzeugname und Ladepunkt je Zeile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20440" y="58795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7067"/>
                </a:solidFill>
              </a:rPr>
              <a:t>Jede Session muss mit vollständigen Abrechnungsdaten erscheinen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Integrationstests – Moser (Detail)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1795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BatteryBoostIntegration  –  4 Fälle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7067"/>
                </a:solidFill>
              </a:rPr>
              <a:t>Startet Battery-Boost und prüft ob die Komponente korrekt auf Speicher-Entladung reagiert.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84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Boost aktivierbar wenn Hausspeicher verfügbar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Ladung startet sofort aus dem Speicher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Boost deaktivierbar – zurück in Normal-Modus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Kein Boost wenn kein Speicher vorhanden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179576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736592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4B"/>
                </a:solidFill>
              </a:rPr>
              <a:t>Fachlich warum?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36592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PV-Überschuss-Nutzung ist ein Kern-Feature: Energie aus dem Speicher kostet nichts extra. Fehler hier verhindert Eigenverbrauch.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FF8EE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DeparturePlan  –  5 Fälle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7067"/>
                </a:solidFill>
              </a:rPr>
              <a:t>Abfahrtsplanung: bis wann soll das Fahrzeug auf welchen Ladestand geladen sein?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Abfahrtszeit setzbar und wird angezeigt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0142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Ziel-SoC setzbar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215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System berechnet Ladestart rückwärts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Warnung bei nicht erreichbarem Plan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008376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4B"/>
                </a:solidFill>
              </a:rPr>
              <a:t>Fachlich warum?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36592" y="34930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Abfahrtsplanung ist das wichtigste Smart-Charging-Feature. Fehler = falsche Abfahrtszeit oder leeres Fahrzeug.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7731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57200" y="48371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MinSocCharging  –  4 Fälle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5257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7067"/>
                </a:solidFill>
              </a:rPr>
              <a:t>Mindest-SoC: sichert beim Anstecken eine Notreserve, bevor Smart-Modus greift.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641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Mindest-SoC einstellbar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58430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Laden startet sofort beim Anstecken bis Min-SoC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0441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Kein Smart-Modus bis Min-SoC erreicht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2453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Normalbetrieb danach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4837176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736592" y="4937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4B"/>
                </a:solidFill>
              </a:rPr>
              <a:t>Fachlich warum?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36592" y="53218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Ohne Notreserve riskiert der Nutzer leere Batterie bei ungeplanten Fahrten.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E2E (Playwright) – </a:t>
            </a:r>
            <a:r>
              <a:rPr lang="en-US" sz="2400" b="1" dirty="0" err="1">
                <a:solidFill>
                  <a:srgbClr val="FFFFFF"/>
                </a:solidFill>
              </a:rPr>
              <a:t>Übersicht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Kaltenegger – 4 Fälle / 2 Flows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charge-plan-flow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Connected: Ladeplan-Button erscheint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Modal: Zeit- und Energiefeld sichtbar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</a:rPr>
              <a:t>Simulator-gestützt: realer connected-Status, vollständiger Modal-Workflow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1330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loadpoint-flow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Loadpoint mit Visualisierungs-Widget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010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connected→charging: Status + Fortschrittsbalken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5431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</a:rPr>
              <a:t>Simulator-gestützt: echter connected→charging Statusübergang im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66420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818888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42B"/>
                </a:solidFill>
              </a:rPr>
              <a:t>Moser – 2 Fälle / 2 Flows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3042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983480" y="2395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charging-lifecycle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Kompletter Lade-Zyklus (anstecken → laden → trennen)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602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952B"/>
                </a:solidFill>
              </a:rPr>
              <a:t>Kern-Journey aus Nutzerperspektive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41330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4983480" y="4224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smart-cost-flow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42B"/>
                </a:solidFill>
              </a:rPr>
              <a:t>– Smart-Cost-Limit setzen → evcc priorisiert günstigen Strom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5431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952B"/>
                </a:solidFill>
              </a:rPr>
              <a:t>Wirtschaftlicher Kernpfad von evcc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E2E-Tests – Kaltenegger (Detail)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2240280"/>
          </a:xfrm>
          <a:prstGeom prst="roundRect">
            <a:avLst>
              <a:gd name="adj" fmla="val 3265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charge-plan-flow  –  2 Testfälle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66928" y="2578608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Test 1: Fahrzeug connected → Ladeplan-Button erscheint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90088"/>
            <a:ext cx="35478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Simulator setzt Ladepunkt auf B (connected) → Ladeplan-Button sichtbar.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Bestätigt: Button erscheint nur wenn Fahrzeug angesteckt 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487168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681728" y="2578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Test 2: Modal öffnet mit Zeit- und Energiefeld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9900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Modal enthält static-plan-time und static-plan-energy.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Bestätigt: Nutzer kann Ladeplan konfigurieren.</a:t>
            </a:r>
            <a:endParaRPr lang="en-US" sz="1100" dirty="0"/>
          </a:p>
          <a:p>
            <a:pPr marL="0" indent="0">
              <a:buNone/>
            </a:pPr>
            <a:r>
              <a:t>Bestätigt: vollständiger Ladeplan-Workflow nutzbar.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279392"/>
            <a:ext cx="8595360" cy="2240280"/>
          </a:xfrm>
          <a:prstGeom prst="roundRect">
            <a:avLst>
              <a:gd name="adj" fmla="val 3265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loadpoint-flow  –  2 Testfälle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84632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66928" y="493776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Test 1: Loadpoint mit Visualisierungs-Widget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349240"/>
            <a:ext cx="35478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Simulator-Setup: Loadpoint sichtbar, Visualisierungs-Widget vorhanden.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Simulator auf B (connected) → vehicle-status-charger zeigt „Connected“.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484632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681728" y="4937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</a:rPr>
              <a:t>Test 3: Statusübergang connected → charging im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1728" y="53492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Schnell-Modus aktivieren, Simulator auf C (charging) → Status „Charging“ + animierter Fortschrittsbalken.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Bestätigt: vollständiger Ladevorgang-Workflow im echten Browser.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E2E-Tests – Moser (Detail)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charging-lifecycle  –  1 Testfall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8321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66928" y="257860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Kompletter Lade-Zyklus: Fahrzeug anstecken → Laden startet → Laden stoppen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Dieser Test bildet die Kern-Journey ab, die jeder evcc-Nutzer täglich durchläuft. Unit- und Integrationstests prüfen einzelne Teile – dieser Test prüft das Zusammenspiel: Wallbox erkennt Fahrzeug, Backend startet Laden, UI aktualisiert sich per WebSocket. Ein Fehler in der Kette zwischen Wallbox und UI wäre sonst nicht sichtbar.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315968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57200" y="44256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smart-cost-flow  –  1 Testfall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901184"/>
            <a:ext cx="8321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566928" y="499262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</a:rPr>
              <a:t>Smart-Cost-Limit setzen → evcc priorisiert günstigen Strom für die Ladung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431536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Das Smart-Cost-Limit ist der wirtschaftliche Kernpfad: Nutzer geben an, bis zu welchem Preis pro kWh geladen werden soll. evcc stoppt oder startet Laden je nach aktuellem Tarif. Dieser Flow kann nur als E2E sinnvoll getestet werden – er benötigt echten Tarif-Feed, echtes Backend und echte UI-Reaktion im Browser.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Lasttests (k6) – </a:t>
            </a:r>
            <a:r>
              <a:rPr lang="en-US" sz="2400" b="1" dirty="0" err="1">
                <a:solidFill>
                  <a:srgbClr val="FFFFFF"/>
                </a:solidFill>
              </a:rPr>
              <a:t>Übersicht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Funktional korrekte Endpoints können unter Last brechen. k6 simuliert viele parallele Nutzer und misst Antwortzeiten und Fehlerraten gegen objektive Schwellenwerte.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E8F5EC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4B"/>
                </a:solidFill>
              </a:rPr>
              <a:t>Gemeinsame Akzeptanzkriterien (Thresholds):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HTTP p95 &lt; 200 ms  |  WS-Verbindung p95 &lt; 500 ms  |  Fehlerrate &lt; 5 %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87067"/>
                </a:solidFill>
              </a:rPr>
              <a:t>(Perzentil statt Mittelwert, weil Tail-Latenz die tatsächliche Nutzererfahrung bestimmt)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822960" y="25694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sessions-load.js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Ziel-Endpoint: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GET /api/state + /api/tariff/grid + WebSocket /ws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Profil: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15s → 5 VU, 30s → 10 VU, 20s → 20 VU, 10s →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Warum: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361"/>
                </a:solidFill>
              </a:rPr>
              <a:t>Tarif-Abruf + WebSocket unter gleichzeitiger Last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Fehler hier = alle Nutzer gleichzeitig falsche Ladeentscheidungen.</a:t>
            </a:r>
            <a:endParaRPr lang="en-US" sz="1150" dirty="0"/>
          </a:p>
          <a:p>
            <a:pPr marL="0" indent="0">
              <a:buNone/>
            </a:pPr>
            <a:r>
              <a:t>Tarif-Daten und State-Updates müssen auch unter Peak-Last zuverlässig ausgeliefert werden.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450592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5257800" y="25694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websocket-load.js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Ziel-Endpoint: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GET /api/state + WebSocket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01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Profil: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Echtzeit-Kanal unter paralleler Last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822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42B"/>
                </a:solidFill>
              </a:rPr>
              <a:t>Warum: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822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42B"/>
                </a:solidFill>
              </a:rPr>
              <a:t>WebSocket = Kern aller Live-Daten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2976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342B"/>
                </a:solidFill>
              </a:rPr>
              <a:t>Der WebSocket-Kanal überträgt alle Live-Updates an alle Clients gleichzeitig. Unter Last muss er stabil und aktuell bleiben.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Lasttest – Kaltenegger (Detail)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sessions-load.js  –  Tarif, State &amp; WebSocket unter Last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Kalteneggers Lasttest deckt REST + WebSocket ab. Fachlicher Fokus: Tarif-Abruf (/api/tariff/grid) und System-Status (/api/state) unter Last – ein Ausfall lässt alle Nutzer gleichzeitig falsche Ladeentscheidungen treffen. Jede Session hält zusätzlich eine WebSocket-Verbindung für Live-Updates offen.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EBF5EF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Lastprofil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Phase 1 (0–15 s): Ramp-up auf 5 VU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Phase 2 (15–45 s): Stabile Last: 10 VU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Phase 3 (45–65 s): Spitze 20 VU  |  Phase 4 (65–75 s): Ramp-down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45059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489204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Schwellenwerte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42B"/>
                </a:solidFill>
              </a:rPr>
              <a:t>HTTP p95 &lt; 200 ms  /  WS-Verbindung p95 &lt; 500 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456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361"/>
                </a:solidFill>
              </a:rPr>
              <a:t/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42B"/>
                </a:solidFill>
              </a:rPr>
              <a:t>API-Fehlerrate + WS-Fehlerrate je &lt; 5 %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279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361"/>
                </a:solidFill>
              </a:rPr>
              <a:t/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773168"/>
            <a:ext cx="8595360" cy="1417320"/>
          </a:xfrm>
          <a:prstGeom prst="roundRect">
            <a:avLst>
              <a:gd name="adj" fmla="val 5161"/>
            </a:avLst>
          </a:prstGeom>
          <a:solidFill>
            <a:srgbClr val="D0E8DA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57200" y="48828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7A4B"/>
                </a:solidFill>
              </a:rPr>
              <a:t>Warum Tarif + WebSocket?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5321808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Tarifdaten und State-Updates sind zeitkritisch: Bei dynamischen Tarifen entscheidet Millisekunden-Genauigkeit wann geladen wird. Der WebSocket überträgt alle Live-Daten – bricht er unter Last, friert das UI ein. Zweiter unabhängiger Messpunkt zu Mosers websocket-load.js.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Lasttest – Moser (Detail)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</a:rPr>
              <a:t>websocket-load.js  –  /api/state + WebSocket Echtzeit-Kanal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42B"/>
                </a:solidFill>
              </a:rPr>
              <a:t>Der WebSocket-Kanal ist das Rückgrat aller Live-Daten in evcc. Jeder Browser-Client hält eine permanente WebSocket-Verbindung offen und empfängt alle Statusupdates in Echtzeit.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1508760"/>
          </a:xfrm>
          <a:prstGeom prst="roundRect">
            <a:avLst>
              <a:gd name="adj" fmla="val 484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</a:rPr>
              <a:t>Warum ist der WebSocket-Kanal für den Lasttest besonders relevant?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Alle Live-Anzeigen (Ladeleistung, Ladestatus, SoC, Energiepreise) werden per WebSocket an alle verbundenen Clients gepusht. Bei vielen parallelen Verbindungen muss der Server alle gleichzeitig bedienen – das ist ein anderes Last-Muster als bei HTTP-Requests. Bricht der WebSocket unter Last zusammen, friert das gesamte UI ein.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EBF5EF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Testszenario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45152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k6 öffnet parallele HTTP + WebSocket-Verbindungen zu /api/state. Gemessen werden Verbindungsaufbauzeit und Stabilität der Nachrichten.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Threshold: p95 &lt; 500 ms, Fehlerrate &lt; 1 %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892040" y="4206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</a:rPr>
              <a:t>Abgrenzung zu Kaltenegger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645152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Kaltenegger testet /api/state + /api/tariff/grid + WebSocket (zweiter unabhängiger Messpunkt).</a:t>
            </a:r>
            <a:endParaRPr lang="en-US" sz="1200" dirty="0"/>
          </a:p>
          <a:p>
            <a:pPr marL="0" indent="0">
              <a:buNone/>
            </a:pPr>
            <a: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>Moser testet /api/state + WebSocket (primärer WebSocket-Messpunkt).</a:t>
            </a:r>
            <a:endParaRPr lang="en-US" sz="1200" dirty="0"/>
          </a:p>
          <a:p>
            <a:pPr marL="0" indent="0">
              <a:buNone/>
            </a:pPr>
            <a:r>
              <a:t>Beide messen WebSocket-Stabilität aus unterschiedlichen Last-Szenarien und ergänzen sich.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342B"/>
                </a:solidFill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2246</Words>
  <Application>Microsoft Office PowerPoint</Application>
  <PresentationFormat>Bildschirmpräsentation (4:3)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Kaltenegger Sebastian - s2410307017</cp:lastModifiedBy>
  <cp:revision>3</cp:revision>
  <dcterms:created xsi:type="dcterms:W3CDTF">2026-06-26T17:45:16Z</dcterms:created>
  <dcterms:modified xsi:type="dcterms:W3CDTF">2026-06-26T18:00:19Z</dcterms:modified>
</cp:coreProperties>
</file>